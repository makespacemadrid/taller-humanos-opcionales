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11C884-0637-4029-A01B-7CAA89AE29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EF2A73-45B7-459F-BBB6-4AAA614FA6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5E55CC2-7311-4813-92B8-4D051528BF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E8949E1-4F19-407B-AA56-B154F0918C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EE12A0C-24AD-4757-866D-A015CB5B90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D9997DC-B56C-44D6-AC54-57EAB5B947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6174BEE-5E10-4093-83E3-4ECDF67E70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7EE6942-138E-4EA3-93D4-4E8AB5577F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5AEFA6B-EE9B-4EF4-9147-C0318AEF4A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0F9083F-13C5-4755-87EA-F55C175138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0AEA68D-D81D-4357-A882-6ABF4D1D92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C7CE63-8402-42FA-80E9-B68ADF0F15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E73B58-E1A0-4C16-9436-E64DCEBA84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C9D55C-7C42-4FCF-A7DA-FE3904BCD5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6A181D-7BD4-4C65-A1AC-8267FF9D3B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B1155B-3E1D-4574-8AAF-5B00334453F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CCD07E-D5E7-483B-91CE-C98085DA633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FF979D-BC37-457A-B23F-85FDCF6260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D2EAFA-8BAF-4EBA-934C-541DEF5C59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411195-FC69-4084-941F-11521A2DB7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7F6B54-FC37-4005-839D-171D2810DE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4C00D5-75C0-489A-B507-A8CC3EF0B8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55480" y="640080"/>
            <a:ext cx="110502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2f4f8"/>
                </a:solidFill>
                <a:latin typeface="Calibri"/>
              </a:rPr>
              <a:t>IA + Automatizaciones: Humanos ¿Opcionales?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822960" y="1691640"/>
            <a:ext cx="2011320" cy="72720"/>
          </a:xfrm>
          <a:prstGeom prst="rect">
            <a:avLst/>
          </a:prstGeom>
          <a:solidFill>
            <a:srgbClr val="68a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192024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b4bccd"/>
                </a:solidFill>
                <a:latin typeface="Calibri"/>
              </a:rPr>
              <a:t>Programar en la era de la IA, agentes y sistemas autónomos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11346840" y="6556320"/>
            <a:ext cx="25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4866840" y="2514600"/>
            <a:ext cx="1970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3566880" y="594360"/>
            <a:ext cx="5301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El elefante en la habitación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1143000" y="1920240"/>
            <a:ext cx="7680600" cy="19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Hoy se puede programar sin escribir código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IA generando código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Automatizaciones por todas partes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Repositorios que se despliegan solos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11346840" y="6556320"/>
            <a:ext cx="25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2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8100000" y="1182240"/>
            <a:ext cx="3531600" cy="529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2175480" y="548640"/>
            <a:ext cx="80845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2f4f8"/>
                </a:solidFill>
                <a:latin typeface="Calibri"/>
              </a:rPr>
              <a:t>Programar en la era de las automatizaciones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ounded Rectangle 3"/>
          <p:cNvSpPr/>
          <p:nvPr/>
        </p:nvSpPr>
        <p:spPr>
          <a:xfrm>
            <a:off x="822960" y="1417320"/>
            <a:ext cx="10972440" cy="49374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86" name="Table 4"/>
          <p:cNvGraphicFramePr/>
          <p:nvPr/>
        </p:nvGraphicFramePr>
        <p:xfrm>
          <a:off x="1005840" y="1645920"/>
          <a:ext cx="10423800" cy="4525920"/>
        </p:xfrm>
        <a:graphic>
          <a:graphicData uri="http://schemas.openxmlformats.org/drawingml/2006/table">
            <a:tbl>
              <a:tblPr/>
              <a:tblGrid>
                <a:gridCol w="5212080"/>
                <a:gridCol w="5212080"/>
              </a:tblGrid>
              <a:tr h="226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3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ANTES</a:t>
                      </a:r>
                      <a:endParaRPr b="0" lang="es-ES" sz="3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3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AHORA</a:t>
                      </a:r>
                      <a:endParaRPr b="0" lang="es-ES" sz="3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</a:tr>
              <a:tr h="226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24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Editor local</a:t>
                      </a:r>
                      <a:endParaRPr b="0" lang="es-E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24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Compilar a mano</a:t>
                      </a:r>
                      <a:endParaRPr b="0" lang="es-E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24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Subir a servidor</a:t>
                      </a:r>
                      <a:endParaRPr b="0" lang="es-E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24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Reiniciar servicios</a:t>
                      </a:r>
                      <a:endParaRPr b="0" lang="es-E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24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Repos como fuente de verdad</a:t>
                      </a:r>
                      <a:endParaRPr b="0" lang="es-E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24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Automatismos reaccionando a eventos</a:t>
                      </a:r>
                      <a:endParaRPr b="0" lang="es-E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24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Infraestructura declarativa</a:t>
                      </a:r>
                      <a:endParaRPr b="0" lang="es-E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24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IA como colaborador</a:t>
                      </a:r>
                      <a:endParaRPr b="0" lang="es-E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</a:tbl>
          </a:graphicData>
        </a:graphic>
      </p:graphicFrame>
      <p:sp>
        <p:nvSpPr>
          <p:cNvPr id="87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11346840" y="6556320"/>
            <a:ext cx="25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3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ounded Rectangle 2"/>
          <p:cNvSpPr/>
          <p:nvPr/>
        </p:nvSpPr>
        <p:spPr>
          <a:xfrm>
            <a:off x="1005840" y="1371600"/>
            <a:ext cx="10149480" cy="420588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1005840" y="1371600"/>
            <a:ext cx="136800" cy="4205880"/>
          </a:xfrm>
          <a:prstGeom prst="rect">
            <a:avLst/>
          </a:prstGeom>
          <a:solidFill>
            <a:srgbClr val="68a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1325880" y="1600200"/>
            <a:ext cx="9600840" cy="281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4000" spc="-1" strike="noStrike">
                <a:solidFill>
                  <a:srgbClr val="f2f4f8"/>
                </a:solidFill>
                <a:latin typeface="Calibri"/>
              </a:rPr>
              <a:t>Programar ya no es ejecutar pasos.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2f4f8"/>
                </a:solidFill>
                <a:latin typeface="Calibri"/>
              </a:rPr>
              <a:t>Es diseñar sistemas que ejecutan pasos por ti.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b4bccd"/>
                </a:solidFill>
                <a:latin typeface="Calibri"/>
              </a:rPr>
              <a:t>Antes: Operador · Tecleador · Bombero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800"/>
              </a:spcBef>
            </a:pPr>
            <a:r>
              <a:rPr b="0" lang="en-US" sz="2200" spc="-1" strike="noStrike">
                <a:solidFill>
                  <a:srgbClr val="b4bccd"/>
                </a:solidFill>
                <a:latin typeface="Calibri"/>
              </a:rPr>
              <a:t>Ahora: Diseñador de flujos · Revisor · Responsable final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11346840" y="6556320"/>
            <a:ext cx="25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4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3904200" y="548640"/>
            <a:ext cx="4626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2f4f8"/>
                </a:solidFill>
                <a:latin typeface="Calibri"/>
              </a:rPr>
              <a:t>Del prompt a producción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1005840" y="1600200"/>
            <a:ext cx="5120280" cy="56664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3970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Oval 4"/>
          <p:cNvSpPr/>
          <p:nvPr/>
        </p:nvSpPr>
        <p:spPr>
          <a:xfrm>
            <a:off x="320040" y="1600200"/>
            <a:ext cx="548280" cy="566640"/>
          </a:xfrm>
          <a:prstGeom prst="ellipse">
            <a:avLst/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445680" y="161856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8a7ff"/>
                </a:solidFill>
                <a:latin typeface="Calibri"/>
              </a:rPr>
              <a:t>1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3181320" y="1645920"/>
            <a:ext cx="952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2f4f8"/>
                </a:solidFill>
                <a:latin typeface="Calibri"/>
              </a:rPr>
              <a:t>Prompt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576000" y="2167200"/>
            <a:ext cx="72720" cy="18252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ounded Rectangle 8"/>
          <p:cNvSpPr/>
          <p:nvPr/>
        </p:nvSpPr>
        <p:spPr>
          <a:xfrm>
            <a:off x="1005840" y="2350080"/>
            <a:ext cx="5120280" cy="56664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3970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Oval 9"/>
          <p:cNvSpPr/>
          <p:nvPr/>
        </p:nvSpPr>
        <p:spPr>
          <a:xfrm>
            <a:off x="320040" y="2350080"/>
            <a:ext cx="548280" cy="566640"/>
          </a:xfrm>
          <a:prstGeom prst="ellipse">
            <a:avLst/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445680" y="236844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8a7ff"/>
                </a:solidFill>
                <a:latin typeface="Calibri"/>
              </a:rPr>
              <a:t>2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11"/>
          <p:cNvSpPr/>
          <p:nvPr/>
        </p:nvSpPr>
        <p:spPr>
          <a:xfrm>
            <a:off x="2458080" y="2395800"/>
            <a:ext cx="2398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2f4f8"/>
                </a:solidFill>
                <a:latin typeface="Calibri"/>
              </a:rPr>
              <a:t>Agente modifica repo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 12"/>
          <p:cNvSpPr/>
          <p:nvPr/>
        </p:nvSpPr>
        <p:spPr>
          <a:xfrm>
            <a:off x="576000" y="2917080"/>
            <a:ext cx="72720" cy="18252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ounded Rectangle 13"/>
          <p:cNvSpPr/>
          <p:nvPr/>
        </p:nvSpPr>
        <p:spPr>
          <a:xfrm>
            <a:off x="1005840" y="3099960"/>
            <a:ext cx="5120280" cy="56664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3970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Oval 14"/>
          <p:cNvSpPr/>
          <p:nvPr/>
        </p:nvSpPr>
        <p:spPr>
          <a:xfrm>
            <a:off x="320040" y="3099960"/>
            <a:ext cx="548280" cy="566640"/>
          </a:xfrm>
          <a:prstGeom prst="ellipse">
            <a:avLst/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5"/>
          <p:cNvSpPr/>
          <p:nvPr/>
        </p:nvSpPr>
        <p:spPr>
          <a:xfrm>
            <a:off x="445680" y="311796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8a7ff"/>
                </a:solidFill>
                <a:latin typeface="Calibri"/>
              </a:rPr>
              <a:t>3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16"/>
          <p:cNvSpPr/>
          <p:nvPr/>
        </p:nvSpPr>
        <p:spPr>
          <a:xfrm>
            <a:off x="2421360" y="3145680"/>
            <a:ext cx="2471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2f4f8"/>
                </a:solidFill>
                <a:latin typeface="Calibri"/>
              </a:rPr>
              <a:t>Confirmación humana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 17"/>
          <p:cNvSpPr/>
          <p:nvPr/>
        </p:nvSpPr>
        <p:spPr>
          <a:xfrm>
            <a:off x="576000" y="3666600"/>
            <a:ext cx="72720" cy="18252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ounded Rectangle 18"/>
          <p:cNvSpPr/>
          <p:nvPr/>
        </p:nvSpPr>
        <p:spPr>
          <a:xfrm>
            <a:off x="1005840" y="3849480"/>
            <a:ext cx="5120280" cy="56664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3970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Oval 19"/>
          <p:cNvSpPr/>
          <p:nvPr/>
        </p:nvSpPr>
        <p:spPr>
          <a:xfrm>
            <a:off x="320040" y="3849480"/>
            <a:ext cx="548280" cy="566640"/>
          </a:xfrm>
          <a:prstGeom prst="ellipse">
            <a:avLst/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0"/>
          <p:cNvSpPr/>
          <p:nvPr/>
        </p:nvSpPr>
        <p:spPr>
          <a:xfrm>
            <a:off x="445680" y="386784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8a7ff"/>
                </a:solidFill>
                <a:latin typeface="Calibri"/>
              </a:rPr>
              <a:t>4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2819160" y="3895200"/>
            <a:ext cx="1676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2f4f8"/>
                </a:solidFill>
                <a:latin typeface="Calibri"/>
              </a:rPr>
              <a:t>Agente revisor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ectangle 22"/>
          <p:cNvSpPr/>
          <p:nvPr/>
        </p:nvSpPr>
        <p:spPr>
          <a:xfrm>
            <a:off x="576000" y="4416480"/>
            <a:ext cx="72720" cy="18252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ounded Rectangle 23"/>
          <p:cNvSpPr/>
          <p:nvPr/>
        </p:nvSpPr>
        <p:spPr>
          <a:xfrm>
            <a:off x="1005840" y="4599360"/>
            <a:ext cx="5120280" cy="56664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3970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Oval 24"/>
          <p:cNvSpPr/>
          <p:nvPr/>
        </p:nvSpPr>
        <p:spPr>
          <a:xfrm>
            <a:off x="320040" y="4599360"/>
            <a:ext cx="548280" cy="566640"/>
          </a:xfrm>
          <a:prstGeom prst="ellipse">
            <a:avLst/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25"/>
          <p:cNvSpPr/>
          <p:nvPr/>
        </p:nvSpPr>
        <p:spPr>
          <a:xfrm>
            <a:off x="445680" y="461772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8a7ff"/>
                </a:solidFill>
                <a:latin typeface="Calibri"/>
              </a:rPr>
              <a:t>5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26"/>
          <p:cNvSpPr/>
          <p:nvPr/>
        </p:nvSpPr>
        <p:spPr>
          <a:xfrm>
            <a:off x="2849760" y="4645080"/>
            <a:ext cx="1615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2f4f8"/>
                </a:solidFill>
                <a:latin typeface="Calibri"/>
              </a:rPr>
              <a:t>CI automático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ectangle 27"/>
          <p:cNvSpPr/>
          <p:nvPr/>
        </p:nvSpPr>
        <p:spPr>
          <a:xfrm>
            <a:off x="576000" y="5166360"/>
            <a:ext cx="72720" cy="18252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ounded Rectangle 28"/>
          <p:cNvSpPr/>
          <p:nvPr/>
        </p:nvSpPr>
        <p:spPr>
          <a:xfrm>
            <a:off x="1005840" y="5349240"/>
            <a:ext cx="5120280" cy="56664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3970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Oval 29"/>
          <p:cNvSpPr/>
          <p:nvPr/>
        </p:nvSpPr>
        <p:spPr>
          <a:xfrm>
            <a:off x="320040" y="5349240"/>
            <a:ext cx="548280" cy="566640"/>
          </a:xfrm>
          <a:prstGeom prst="ellipse">
            <a:avLst/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30"/>
          <p:cNvSpPr/>
          <p:nvPr/>
        </p:nvSpPr>
        <p:spPr>
          <a:xfrm>
            <a:off x="445680" y="536760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8a7ff"/>
                </a:solidFill>
                <a:latin typeface="Calibri"/>
              </a:rPr>
              <a:t>6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Box 31"/>
          <p:cNvSpPr/>
          <p:nvPr/>
        </p:nvSpPr>
        <p:spPr>
          <a:xfrm>
            <a:off x="2737080" y="5394960"/>
            <a:ext cx="1840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2f4f8"/>
                </a:solidFill>
                <a:latin typeface="Calibri"/>
              </a:rPr>
              <a:t>Build de imagen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 32"/>
          <p:cNvSpPr/>
          <p:nvPr/>
        </p:nvSpPr>
        <p:spPr>
          <a:xfrm>
            <a:off x="576000" y="5916240"/>
            <a:ext cx="72720" cy="18252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ounded Rectangle 33"/>
          <p:cNvSpPr/>
          <p:nvPr/>
        </p:nvSpPr>
        <p:spPr>
          <a:xfrm>
            <a:off x="1005840" y="6099120"/>
            <a:ext cx="5120280" cy="56664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3970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Oval 34"/>
          <p:cNvSpPr/>
          <p:nvPr/>
        </p:nvSpPr>
        <p:spPr>
          <a:xfrm>
            <a:off x="320040" y="6099120"/>
            <a:ext cx="548280" cy="566640"/>
          </a:xfrm>
          <a:prstGeom prst="ellipse">
            <a:avLst/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35"/>
          <p:cNvSpPr/>
          <p:nvPr/>
        </p:nvSpPr>
        <p:spPr>
          <a:xfrm>
            <a:off x="445680" y="6117480"/>
            <a:ext cx="297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68a7ff"/>
                </a:solidFill>
                <a:latin typeface="Calibri"/>
              </a:rPr>
              <a:t>7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36"/>
          <p:cNvSpPr/>
          <p:nvPr/>
        </p:nvSpPr>
        <p:spPr>
          <a:xfrm>
            <a:off x="2588400" y="6144840"/>
            <a:ext cx="213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f2f4f8"/>
                </a:solidFill>
                <a:latin typeface="Calibri"/>
              </a:rPr>
              <a:t>Deploy automático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ounded Rectangle 37"/>
          <p:cNvSpPr/>
          <p:nvPr/>
        </p:nvSpPr>
        <p:spPr>
          <a:xfrm>
            <a:off x="6583680" y="1965960"/>
            <a:ext cx="4663080" cy="2377080"/>
          </a:xfrm>
          <a:prstGeom prst="roundRect">
            <a:avLst>
              <a:gd name="adj" fmla="val 16667"/>
            </a:avLst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38"/>
          <p:cNvSpPr/>
          <p:nvPr/>
        </p:nvSpPr>
        <p:spPr>
          <a:xfrm>
            <a:off x="6903720" y="2240280"/>
            <a:ext cx="402300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600" spc="-1" strike="noStrike">
                <a:solidFill>
                  <a:srgbClr val="78ffd6"/>
                </a:solidFill>
                <a:latin typeface="Calibri"/>
              </a:rPr>
              <a:t>El humano deja de pulsar botones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78ffd6"/>
                </a:solidFill>
                <a:latin typeface="Calibri"/>
              </a:rPr>
              <a:t>y pasa a validar decisiones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 39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40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41"/>
          <p:cNvSpPr/>
          <p:nvPr/>
        </p:nvSpPr>
        <p:spPr>
          <a:xfrm>
            <a:off x="11346840" y="6556320"/>
            <a:ext cx="25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5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3668040" y="594360"/>
            <a:ext cx="5099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Automatizaciones: CI / CD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4"/>
          <p:cNvSpPr/>
          <p:nvPr/>
        </p:nvSpPr>
        <p:spPr>
          <a:xfrm>
            <a:off x="1143000" y="1920240"/>
            <a:ext cx="7680600" cy="131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CI (Integración continua): lint · tests · build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CD (Despliegue continuo): si pasa CI → se publica y se despliega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ounded Rectangle 5"/>
          <p:cNvSpPr/>
          <p:nvPr/>
        </p:nvSpPr>
        <p:spPr>
          <a:xfrm>
            <a:off x="9326880" y="1920240"/>
            <a:ext cx="2651400" cy="3108600"/>
          </a:xfrm>
          <a:prstGeom prst="roundRect">
            <a:avLst>
              <a:gd name="adj" fmla="val 16667"/>
            </a:avLst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9555480" y="2148840"/>
            <a:ext cx="219420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Si algo se puede olvidar,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Debe automatizarse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ectangle 7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11346840" y="6556320"/>
            <a:ext cx="25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6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3480840" y="594360"/>
            <a:ext cx="5473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GitHub Actions como motor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1143000" y="1920240"/>
            <a:ext cx="768060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Pull Request → tests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Merge → build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Release → deploy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Rounded Rectangle 5"/>
          <p:cNvSpPr/>
          <p:nvPr/>
        </p:nvSpPr>
        <p:spPr>
          <a:xfrm>
            <a:off x="9326880" y="1920240"/>
            <a:ext cx="2651400" cy="3108600"/>
          </a:xfrm>
          <a:prstGeom prst="roundRect">
            <a:avLst>
              <a:gd name="adj" fmla="val 16667"/>
            </a:avLst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9555480" y="2148840"/>
            <a:ext cx="219420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GitHub Actions =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Sistema nervioso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autónomo del repo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Rectangle 7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11346840" y="6556320"/>
            <a:ext cx="25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7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2609640" y="594360"/>
            <a:ext cx="7215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¿Qué es un agente de programación?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1143000" y="1920240"/>
            <a:ext cx="7680600" cy="22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De chatbot a agente: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Chatbot → responde texto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Agente → actúa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Un agente tiene: Modelo · Objetivo · Plan · Herramientas · Límites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11346840" y="6556320"/>
            <a:ext cx="25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8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3554640" y="594360"/>
            <a:ext cx="5326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Herramientas de un agente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4"/>
          <p:cNvSpPr/>
          <p:nvPr/>
        </p:nvSpPr>
        <p:spPr>
          <a:xfrm>
            <a:off x="1143000" y="1920240"/>
            <a:ext cx="7680600" cy="34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· crear_plan 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· leer_fichero 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· modificar_fichero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· ejecutar_comando 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· clonar_repositorio 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· buscar_internet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Ciclo: pensar → actuar → observar → corregir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Box 7"/>
          <p:cNvSpPr/>
          <p:nvPr/>
        </p:nvSpPr>
        <p:spPr>
          <a:xfrm>
            <a:off x="11346840" y="6556320"/>
            <a:ext cx="2574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9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4588560" y="548640"/>
            <a:ext cx="32580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2f4f8"/>
                </a:solidFill>
                <a:latin typeface="Calibri"/>
              </a:rPr>
              <a:t>Modelos y costes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Rounded Rectangle 3"/>
          <p:cNvSpPr/>
          <p:nvPr/>
        </p:nvSpPr>
        <p:spPr>
          <a:xfrm>
            <a:off x="822960" y="1417320"/>
            <a:ext cx="10972440" cy="49374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73" name="Table 4"/>
          <p:cNvGraphicFramePr/>
          <p:nvPr/>
        </p:nvGraphicFramePr>
        <p:xfrm>
          <a:off x="1005840" y="1645920"/>
          <a:ext cx="9692280" cy="4781880"/>
        </p:xfrm>
        <a:graphic>
          <a:graphicData uri="http://schemas.openxmlformats.org/drawingml/2006/table">
            <a:tbl>
              <a:tblPr/>
              <a:tblGrid>
                <a:gridCol w="1417320"/>
                <a:gridCol w="2743200"/>
                <a:gridCol w="1554480"/>
                <a:gridCol w="1143000"/>
                <a:gridCol w="2834640"/>
              </a:tblGrid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Categoría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Modelo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Dónde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Coste mensual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Notas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Comercial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ChatGPT Pro + Codex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Web / IDE / CLI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~25€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Muy potente, opaco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Comercial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Claude Pro + Claude Code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Web / CLI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~20€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Excelente razonamiento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Comercial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GitHub Copilot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IDE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~10€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Muy integrado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Comercial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Gemini Advanced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Web / IDE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~20€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Ecosistema Google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Free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Gemini Code Assist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Web / IDE / CLI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Muy generoso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Free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Claude Free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Web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Limitado pero calidad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Free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ChatGPT Free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Web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Demos rápidas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Free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Qwen3-Coder (cloud)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CLI / IDE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Muy buen coder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Free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OpenRouter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CLI / IDE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Multi-modelo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Auto-alojado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Ollama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Local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Runtime base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Auto-alojado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Continue.dev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IDE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Puente IA local/cloud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Auto-alojado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OpenCode.ai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CLI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Agentes y automatismos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</a:tr>
              <a:tr h="323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Auto-alojado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Qwen3-Coder local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Local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Modelo potente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</a:tbl>
          </a:graphicData>
        </a:graphic>
      </p:graphicFrame>
      <p:sp>
        <p:nvSpPr>
          <p:cNvPr id="174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10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2"/>
          <p:cNvSpPr/>
          <p:nvPr/>
        </p:nvSpPr>
        <p:spPr>
          <a:xfrm>
            <a:off x="4417200" y="548640"/>
            <a:ext cx="36010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2f4f8"/>
                </a:solidFill>
                <a:latin typeface="Calibri"/>
              </a:rPr>
              <a:t>Privacidad vs Coste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ounded Rectangle 3"/>
          <p:cNvSpPr/>
          <p:nvPr/>
        </p:nvSpPr>
        <p:spPr>
          <a:xfrm>
            <a:off x="822960" y="1417320"/>
            <a:ext cx="10972440" cy="49374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80" name="Table 4"/>
          <p:cNvGraphicFramePr/>
          <p:nvPr/>
        </p:nvGraphicFramePr>
        <p:xfrm>
          <a:off x="1005840" y="1645920"/>
          <a:ext cx="10606680" cy="452592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371600"/>
                <a:gridCol w="1188720"/>
                <a:gridCol w="4663440"/>
              </a:tblGrid>
              <a:tr h="113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Categoría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Coste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Privacidad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Control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68a7ff"/>
                          </a:solidFill>
                          <a:latin typeface="Calibri"/>
                        </a:rPr>
                        <a:t>Desventajas</a:t>
                      </a:r>
                      <a:endParaRPr b="0" lang="es-E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1c37"/>
                    </a:solidFill>
                  </a:tcPr>
                </a:tc>
              </a:tr>
              <a:tr h="113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Auto-albergado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🆓 </a:t>
                      </a: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🔒🔒🔒 </a:t>
                      </a: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Total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🎛️ </a:t>
                      </a: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Total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Requiere hardware, setup técnico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  <a:tr h="113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Tier Free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🆓 </a:t>
                      </a: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Gratis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⚠️ </a:t>
                      </a: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Baja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❌ </a:t>
                      </a: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Nulo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Datos usados para entrenar, límites estrictos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c1224"/>
                    </a:solidFill>
                  </a:tcPr>
                </a:tc>
              </a:tr>
              <a:tr h="113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Comercial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💸 </a:t>
                      </a: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~20–25€/mes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🔒🔒 </a:t>
                      </a: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Alta*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⚠️ </a:t>
                      </a: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Medio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spcAft>
                          <a:spcPts val="201"/>
                        </a:spcAft>
                      </a:pPr>
                      <a:r>
                        <a:rPr b="0" lang="en-US" sz="1300" spc="-1" strike="noStrike">
                          <a:solidFill>
                            <a:srgbClr val="f2f4f8"/>
                          </a:solidFill>
                          <a:latin typeface="Calibri"/>
                        </a:rPr>
                        <a:t>Dependencia del proveedor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1428"/>
                    </a:solidFill>
                  </a:tcPr>
                </a:tc>
              </a:tr>
            </a:tbl>
          </a:graphicData>
        </a:graphic>
      </p:graphicFrame>
      <p:sp>
        <p:nvSpPr>
          <p:cNvPr id="181" name="TextBox 5"/>
          <p:cNvSpPr/>
          <p:nvPr/>
        </p:nvSpPr>
        <p:spPr>
          <a:xfrm>
            <a:off x="2363760" y="6309360"/>
            <a:ext cx="78908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4bccd"/>
                </a:solidFill>
                <a:latin typeface="Calibri"/>
              </a:rPr>
              <a:t>*Las opciones comerciales son privadas solo si desactivas el uso de datos para reentrenamiento en la configuración.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Rectangle 6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Box 8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11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4633560" y="548640"/>
            <a:ext cx="31680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2f4f8"/>
                </a:solidFill>
                <a:latin typeface="Calibri"/>
              </a:rPr>
              <a:t>Buenas prácticas</a:t>
            </a:r>
            <a:endParaRPr b="0" lang="es-E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ounded Rectangle 3"/>
          <p:cNvSpPr/>
          <p:nvPr/>
        </p:nvSpPr>
        <p:spPr>
          <a:xfrm>
            <a:off x="822960" y="1417320"/>
            <a:ext cx="10972440" cy="49374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El repositorio es la fuente de verdad</a:t>
            </a:r>
            <a:endParaRPr b="0" lang="en-US" sz="1800" spc="-1" strike="noStrike">
              <a:solidFill>
                <a:schemeClr val="lt1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Contexto explícito (README, AGENTS.md, comentarios clave)</a:t>
            </a:r>
            <a:endParaRPr b="0" lang="en-US" sz="1800" spc="-1" strike="noStrike">
              <a:solidFill>
                <a:schemeClr val="lt1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Reglas claras: qué se puede y qué no se puede tocar</a:t>
            </a:r>
            <a:endParaRPr b="0" lang="en-US" sz="1800" spc="-1" strike="noStrike">
              <a:solidFill>
                <a:schemeClr val="lt1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Comandos de test y build documentados</a:t>
            </a:r>
            <a:endParaRPr b="0" lang="en-US" sz="1800" spc="-1" strike="noStrike">
              <a:solidFill>
                <a:schemeClr val="lt1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Suposiciones prohibidas</a:t>
            </a:r>
            <a:endParaRPr b="0" lang="en-US" sz="1800" spc="-1" strike="noStrike">
              <a:solidFill>
                <a:schemeClr val="lt1"/>
              </a:solidFill>
              <a:latin typeface="Arial"/>
            </a:endParaRPr>
          </a:p>
          <a:p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88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7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12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4993920" y="594360"/>
            <a:ext cx="2447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AGENTS.md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1143000" y="1920240"/>
            <a:ext cx="7680600" cy="29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Documento común para cualquier agente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propósito del proyecto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reglas generales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estilo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qué no hacer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cómo ejecutar tests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7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13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3983760" y="594360"/>
            <a:ext cx="4467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Otras buenas prácticas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4"/>
          <p:cNvSpPr/>
          <p:nvPr/>
        </p:nvSpPr>
        <p:spPr>
          <a:xfrm>
            <a:off x="1143000" y="1920240"/>
            <a:ext cx="768060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Permisos mínimos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Entornos aislados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Revisión humana siempre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Box 7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14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4236480" y="594360"/>
            <a:ext cx="3962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Peligros y seguridad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1143000" y="1920240"/>
            <a:ext cx="7680600" cy="19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Las herramientas: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corren en tu máquina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leen tu código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ejecutan comandos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Rounded Rectangle 5"/>
          <p:cNvSpPr/>
          <p:nvPr/>
        </p:nvSpPr>
        <p:spPr>
          <a:xfrm>
            <a:off x="9326880" y="1920240"/>
            <a:ext cx="2651400" cy="3108600"/>
          </a:xfrm>
          <a:prstGeom prst="roundRect">
            <a:avLst>
              <a:gd name="adj" fmla="val 16667"/>
            </a:avLst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9555480" y="2148840"/>
            <a:ext cx="219420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Un agente no es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solo texto.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Es software con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permisos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ectangle 7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15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2"/>
          <p:cNvSpPr/>
          <p:nvPr/>
        </p:nvSpPr>
        <p:spPr>
          <a:xfrm>
            <a:off x="4795200" y="594360"/>
            <a:ext cx="2845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Riesgos reales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4"/>
          <p:cNvSpPr/>
          <p:nvPr/>
        </p:nvSpPr>
        <p:spPr>
          <a:xfrm>
            <a:off x="1143000" y="1920240"/>
            <a:ext cx="768060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Exfiltración de secretos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Código contaminado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Envenenamiento del agente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Rounded Rectangle 5"/>
          <p:cNvSpPr/>
          <p:nvPr/>
        </p:nvSpPr>
        <p:spPr>
          <a:xfrm>
            <a:off x="9326880" y="1920240"/>
            <a:ext cx="2651400" cy="3108600"/>
          </a:xfrm>
          <a:prstGeom prst="roundRect">
            <a:avLst>
              <a:gd name="adj" fmla="val 16667"/>
            </a:avLst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9555480" y="2148840"/>
            <a:ext cx="21942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No por maldad,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sino por exceso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de permisos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Rectangle 7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TextBox 8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Box 9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16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2"/>
          <p:cNvSpPr/>
          <p:nvPr/>
        </p:nvSpPr>
        <p:spPr>
          <a:xfrm>
            <a:off x="4916880" y="594360"/>
            <a:ext cx="2601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Mitigaciones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4"/>
          <p:cNvSpPr/>
          <p:nvPr/>
        </p:nvSpPr>
        <p:spPr>
          <a:xfrm>
            <a:off x="1143000" y="1920240"/>
            <a:ext cx="7680600" cy="19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Permisos mínimos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Sandboxes / containers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Entornos aislados (coder.com)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Revisión humana siempre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ounded Rectangle 5"/>
          <p:cNvSpPr/>
          <p:nvPr/>
        </p:nvSpPr>
        <p:spPr>
          <a:xfrm>
            <a:off x="9326880" y="1920240"/>
            <a:ext cx="2651400" cy="3108600"/>
          </a:xfrm>
          <a:prstGeom prst="roundRect">
            <a:avLst>
              <a:gd name="adj" fmla="val 16667"/>
            </a:avLst>
          </a:prstGeom>
          <a:solidFill>
            <a:srgbClr val="0a1c37"/>
          </a:solidFill>
          <a:ln w="25400">
            <a:solidFill>
              <a:srgbClr val="68a7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6"/>
          <p:cNvSpPr/>
          <p:nvPr/>
        </p:nvSpPr>
        <p:spPr>
          <a:xfrm>
            <a:off x="9555480" y="2148840"/>
            <a:ext cx="219420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El problema no es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la IA.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68a7ff"/>
                </a:solidFill>
                <a:latin typeface="Calibri"/>
              </a:rPr>
              <a:t>Es el perímetro</a:t>
            </a:r>
            <a:endParaRPr b="0" lang="es-E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ectangle 7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8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Box 9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17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5365800" y="594360"/>
            <a:ext cx="1703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Dilemas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1143000" y="1920240"/>
            <a:ext cx="7680600" cy="14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¿Qué pasa si dejamos de practicar?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¿Qué pasa cuando los modelos de negocio se estabilicen?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¿Qué pasa cuando la IA consuma IA?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Box 7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18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Rounded Rectangle 2"/>
          <p:cNvSpPr/>
          <p:nvPr/>
        </p:nvSpPr>
        <p:spPr>
          <a:xfrm>
            <a:off x="1005840" y="1371600"/>
            <a:ext cx="10149480" cy="420588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Rectangle 3"/>
          <p:cNvSpPr/>
          <p:nvPr/>
        </p:nvSpPr>
        <p:spPr>
          <a:xfrm>
            <a:off x="1005840" y="1371600"/>
            <a:ext cx="136800" cy="4205880"/>
          </a:xfrm>
          <a:prstGeom prst="rect">
            <a:avLst/>
          </a:prstGeom>
          <a:solidFill>
            <a:srgbClr val="68a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4"/>
          <p:cNvSpPr/>
          <p:nvPr/>
        </p:nvSpPr>
        <p:spPr>
          <a:xfrm>
            <a:off x="1325880" y="1600200"/>
            <a:ext cx="9600840" cy="19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4000" spc="-1" strike="noStrike">
                <a:solidFill>
                  <a:srgbClr val="f2f4f8"/>
                </a:solidFill>
                <a:latin typeface="Calibri"/>
              </a:rPr>
              <a:t>No estamos automatizando código.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2f4f8"/>
                </a:solidFill>
                <a:latin typeface="Calibri"/>
              </a:rPr>
              <a:t>Estamos automatizando partes del pensamiento.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19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2"/>
          <p:cNvSpPr/>
          <p:nvPr/>
        </p:nvSpPr>
        <p:spPr>
          <a:xfrm>
            <a:off x="3943080" y="594360"/>
            <a:ext cx="4548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2f4f8"/>
                </a:solidFill>
                <a:latin typeface="Calibri"/>
              </a:rPr>
              <a:t>Humanos ¿opcionales?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Rounded Rectangle 3"/>
          <p:cNvSpPr/>
          <p:nvPr/>
        </p:nvSpPr>
        <p:spPr>
          <a:xfrm>
            <a:off x="822960" y="1600200"/>
            <a:ext cx="8229240" cy="448020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4"/>
          <p:cNvSpPr/>
          <p:nvPr/>
        </p:nvSpPr>
        <p:spPr>
          <a:xfrm>
            <a:off x="1143000" y="1920240"/>
            <a:ext cx="7680600" cy="94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Opcionales: compilar · empaquetar · desplegar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400" spc="-1" strike="noStrike">
                <a:solidFill>
                  <a:srgbClr val="f2f4f8"/>
                </a:solidFill>
                <a:latin typeface="Calibri"/>
              </a:rPr>
              <a:t>Imprescindibles: intención · criterio · responsabilidad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7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20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Rounded Rectangle 2"/>
          <p:cNvSpPr/>
          <p:nvPr/>
        </p:nvSpPr>
        <p:spPr>
          <a:xfrm>
            <a:off x="1005840" y="1371600"/>
            <a:ext cx="10149480" cy="4205880"/>
          </a:xfrm>
          <a:prstGeom prst="roundRect">
            <a:avLst>
              <a:gd name="adj" fmla="val 16667"/>
            </a:avLst>
          </a:prstGeom>
          <a:solidFill>
            <a:srgbClr val="0e1428"/>
          </a:solidFill>
          <a:ln w="15875">
            <a:solidFill>
              <a:srgbClr val="19234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Rectangle 3"/>
          <p:cNvSpPr/>
          <p:nvPr/>
        </p:nvSpPr>
        <p:spPr>
          <a:xfrm>
            <a:off x="1005840" y="1371600"/>
            <a:ext cx="136800" cy="4205880"/>
          </a:xfrm>
          <a:prstGeom prst="rect">
            <a:avLst/>
          </a:prstGeom>
          <a:solidFill>
            <a:srgbClr val="68a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4"/>
          <p:cNvSpPr/>
          <p:nvPr/>
        </p:nvSpPr>
        <p:spPr>
          <a:xfrm>
            <a:off x="1325880" y="1600200"/>
            <a:ext cx="960084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4000" spc="-1" strike="noStrike">
                <a:solidFill>
                  <a:srgbClr val="f2f4f8"/>
                </a:solidFill>
                <a:latin typeface="Calibri"/>
              </a:rPr>
              <a:t>El futuro no es programar menos.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2f4f8"/>
                </a:solidFill>
                <a:latin typeface="Calibri"/>
              </a:rPr>
              <a:t>Es programar sistemas que trabajan contigo.</a:t>
            </a:r>
            <a:endParaRPr b="0" lang="es-E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Box 7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21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arallelogram 1"/>
          <p:cNvSpPr/>
          <p:nvPr/>
        </p:nvSpPr>
        <p:spPr>
          <a:xfrm>
            <a:off x="8961120" y="-457200"/>
            <a:ext cx="4571640" cy="8229240"/>
          </a:xfrm>
          <a:prstGeom prst="parallelogram">
            <a:avLst>
              <a:gd name="adj" fmla="val 25000"/>
            </a:avLst>
          </a:prstGeom>
          <a:solidFill>
            <a:srgbClr val="0f16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TextBox 2"/>
          <p:cNvSpPr/>
          <p:nvPr/>
        </p:nvSpPr>
        <p:spPr>
          <a:xfrm>
            <a:off x="5145480" y="640080"/>
            <a:ext cx="18698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2f4f8"/>
                </a:solidFill>
                <a:latin typeface="Calibri"/>
              </a:rPr>
              <a:t>Gracias</a:t>
            </a:r>
            <a:endParaRPr b="0" lang="es-E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Rectangle 3"/>
          <p:cNvSpPr/>
          <p:nvPr/>
        </p:nvSpPr>
        <p:spPr>
          <a:xfrm>
            <a:off x="822960" y="1691640"/>
            <a:ext cx="2011320" cy="72720"/>
          </a:xfrm>
          <a:prstGeom prst="rect">
            <a:avLst/>
          </a:prstGeom>
          <a:solidFill>
            <a:srgbClr val="68a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TextBox 4"/>
          <p:cNvSpPr/>
          <p:nvPr/>
        </p:nvSpPr>
        <p:spPr>
          <a:xfrm>
            <a:off x="822960" y="192024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b4bccd"/>
                </a:solidFill>
                <a:latin typeface="Calibri"/>
              </a:rPr>
              <a:t>Preguntas / Debate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ectangle 5"/>
          <p:cNvSpPr/>
          <p:nvPr/>
        </p:nvSpPr>
        <p:spPr>
          <a:xfrm>
            <a:off x="548640" y="6510600"/>
            <a:ext cx="11063880" cy="18000"/>
          </a:xfrm>
          <a:prstGeom prst="rect">
            <a:avLst/>
          </a:prstGeom>
          <a:solidFill>
            <a:srgbClr val="1923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6"/>
          <p:cNvSpPr/>
          <p:nvPr/>
        </p:nvSpPr>
        <p:spPr>
          <a:xfrm>
            <a:off x="4479840" y="6556320"/>
            <a:ext cx="1372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MakeSpace Madrid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Box 7"/>
          <p:cNvSpPr/>
          <p:nvPr/>
        </p:nvSpPr>
        <p:spPr>
          <a:xfrm>
            <a:off x="11307960" y="6556320"/>
            <a:ext cx="3351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bccd"/>
                </a:solidFill>
                <a:latin typeface="Calibri"/>
              </a:rPr>
              <a:t>22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2026-01-24T17:13:14Z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